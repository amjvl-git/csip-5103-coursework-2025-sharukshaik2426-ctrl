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13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sldSz cx="14630400" cy="8229600"/>
  <p:notesSz cx="8229600" cy="14630400"/>
  <p:embeddedFontLst>
    <p:embeddedFont>
      <p:font typeface="DM Sans Medium" panose="020F0502020204030204" pitchFamily="2" charset="0"/>
      <p:regular r:id="rId14"/>
    </p:embeddedFont>
    <p:embeddedFont>
      <p:font typeface="Inter" panose="020B0604020202020204" charset="0"/>
      <p:regular r:id="rId15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69" d="100"/>
          <a:sy n="69" d="100"/>
        </p:scale>
        <p:origin x="677" y="6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font" Target="fonts/font2.fntdata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1.fnt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81714698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6E2DB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9F8F5"/>
          </a:solidFill>
          <a:ln/>
        </p:spPr>
        <p:txBody>
          <a:bodyPr/>
          <a:lstStyle/>
          <a:p>
            <a:endParaRPr lang="en-IN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2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6E2D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9F8F5"/>
          </a:solidFill>
          <a:ln/>
        </p:spPr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3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6E2D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9F8F5"/>
          </a:solidFill>
          <a:ln/>
        </p:spPr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4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6E2D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9F8F5"/>
          </a:solidFill>
          <a:ln/>
        </p:spPr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5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6E2D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9F8F5"/>
          </a:solidFill>
          <a:ln/>
        </p:spPr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6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6E2D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9F8F5"/>
          </a:solidFill>
          <a:ln/>
        </p:spPr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7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6E2D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9F8F5"/>
          </a:solidFill>
          <a:ln/>
        </p:spPr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8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6E2D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9F8F5"/>
          </a:solidFill>
          <a:ln/>
        </p:spPr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9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6E2D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9F8F5"/>
          </a:solidFill>
          <a:ln/>
        </p:spPr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0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6E2D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9F8F5"/>
          </a:solidFill>
          <a:ln/>
        </p:spPr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1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6E2D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9F8F5"/>
          </a:solidFill>
          <a:ln/>
        </p:spPr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svg"/><Relationship Id="rId3" Type="http://schemas.openxmlformats.org/officeDocument/2006/relationships/image" Target="../media/image1.png"/><Relationship Id="rId7" Type="http://schemas.openxmlformats.org/officeDocument/2006/relationships/image" Target="../media/image5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4.svg"/><Relationship Id="rId5" Type="http://schemas.openxmlformats.org/officeDocument/2006/relationships/image" Target="../media/image3.png"/><Relationship Id="rId4" Type="http://schemas.openxmlformats.org/officeDocument/2006/relationships/image" Target="../media/image2.sv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5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.svg"/><Relationship Id="rId3" Type="http://schemas.openxmlformats.org/officeDocument/2006/relationships/image" Target="../media/image7.png"/><Relationship Id="rId7" Type="http://schemas.openxmlformats.org/officeDocument/2006/relationships/image" Target="../media/image1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0.svg"/><Relationship Id="rId5" Type="http://schemas.openxmlformats.org/officeDocument/2006/relationships/image" Target="../media/image9.png"/><Relationship Id="rId10" Type="http://schemas.openxmlformats.org/officeDocument/2006/relationships/image" Target="../media/image14.svg"/><Relationship Id="rId4" Type="http://schemas.openxmlformats.org/officeDocument/2006/relationships/image" Target="../media/image8.svg"/><Relationship Id="rId9" Type="http://schemas.openxmlformats.org/officeDocument/2006/relationships/image" Target="../media/image13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8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9.xml"/><Relationship Id="rId5" Type="http://schemas.openxmlformats.org/officeDocument/2006/relationships/image" Target="../media/image17.png"/><Relationship Id="rId4" Type="http://schemas.openxmlformats.org/officeDocument/2006/relationships/image" Target="../media/image16.pn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0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2831902"/>
            <a:ext cx="13042821" cy="141755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dirty="0">
                <a:solidFill>
                  <a:srgbClr val="161613"/>
                </a:solidFill>
                <a:latin typeface="DM Sans Medium" pitchFamily="34" charset="0"/>
                <a:ea typeface="DM Sans Medium" pitchFamily="34" charset="-122"/>
                <a:cs typeface="DM Sans Medium" pitchFamily="34" charset="-120"/>
              </a:rPr>
              <a:t>Fashion-MNIST Classification Performance Analysis</a:t>
            </a:r>
            <a:endParaRPr lang="en-US" sz="4450" dirty="0"/>
          </a:p>
        </p:txBody>
      </p:sp>
      <p:sp>
        <p:nvSpPr>
          <p:cNvPr id="3" name="Text 1"/>
          <p:cNvSpPr/>
          <p:nvPr/>
        </p:nvSpPr>
        <p:spPr>
          <a:xfrm>
            <a:off x="793790" y="4340185"/>
            <a:ext cx="4516636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161613"/>
                </a:solidFill>
                <a:latin typeface="DM Sans Medium" pitchFamily="34" charset="0"/>
                <a:ea typeface="DM Sans Medium" pitchFamily="34" charset="-122"/>
                <a:cs typeface="DM Sans Medium" pitchFamily="34" charset="-120"/>
              </a:rPr>
              <a:t>Deep Learning Model Comparison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793790" y="5034677"/>
            <a:ext cx="13042821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16161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Sharuk Shaik P2904355</a:t>
            </a:r>
            <a:endParaRPr lang="en-US" sz="17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2049423"/>
            <a:ext cx="5670590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dirty="0">
                <a:solidFill>
                  <a:srgbClr val="161613"/>
                </a:solidFill>
                <a:latin typeface="DM Sans Medium" pitchFamily="34" charset="0"/>
                <a:ea typeface="DM Sans Medium" pitchFamily="34" charset="-122"/>
                <a:cs typeface="DM Sans Medium" pitchFamily="34" charset="-120"/>
              </a:rPr>
              <a:t>Introduction</a:t>
            </a:r>
            <a:endParaRPr lang="en-US" sz="4450" dirty="0"/>
          </a:p>
        </p:txBody>
      </p:sp>
      <p:sp>
        <p:nvSpPr>
          <p:cNvPr id="3" name="Text 1"/>
          <p:cNvSpPr/>
          <p:nvPr/>
        </p:nvSpPr>
        <p:spPr>
          <a:xfrm>
            <a:off x="793790" y="3325178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161613"/>
                </a:solidFill>
                <a:latin typeface="DM Sans Medium" pitchFamily="34" charset="0"/>
                <a:ea typeface="DM Sans Medium" pitchFamily="34" charset="-122"/>
                <a:cs typeface="DM Sans Medium" pitchFamily="34" charset="-120"/>
              </a:rPr>
              <a:t>The Challenge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793790" y="3906322"/>
            <a:ext cx="6244709" cy="10887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16161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Fashion-MNIST dataset contains 10 clothing categories requiring accurate classification through deep learning algorithms.</a:t>
            </a:r>
            <a:endParaRPr lang="en-US" sz="1750" dirty="0"/>
          </a:p>
        </p:txBody>
      </p:sp>
      <p:sp>
        <p:nvSpPr>
          <p:cNvPr id="5" name="Text 3"/>
          <p:cNvSpPr/>
          <p:nvPr/>
        </p:nvSpPr>
        <p:spPr>
          <a:xfrm>
            <a:off x="7599521" y="3325178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161613"/>
                </a:solidFill>
                <a:latin typeface="DM Sans Medium" pitchFamily="34" charset="0"/>
                <a:ea typeface="DM Sans Medium" pitchFamily="34" charset="-122"/>
                <a:cs typeface="DM Sans Medium" pitchFamily="34" charset="-120"/>
              </a:rPr>
              <a:t>Why This Matters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7599521" y="3906322"/>
            <a:ext cx="6244709" cy="10887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16161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Understanding which neural network architectures perform best for image classification tasks is crucial for real-world fashion applications.</a:t>
            </a:r>
            <a:endParaRPr lang="en-US" sz="1750" dirty="0"/>
          </a:p>
        </p:txBody>
      </p:sp>
      <p:sp>
        <p:nvSpPr>
          <p:cNvPr id="7" name="Text 5"/>
          <p:cNvSpPr/>
          <p:nvPr/>
        </p:nvSpPr>
        <p:spPr>
          <a:xfrm>
            <a:off x="793790" y="5454253"/>
            <a:ext cx="13042821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16161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This analysis compares ANN and CNN architectures to determine optimal methods for achieving highest classification accuracy on visual data.</a:t>
            </a:r>
            <a:endParaRPr lang="en-US" sz="17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1882140"/>
            <a:ext cx="5670590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dirty="0">
                <a:solidFill>
                  <a:srgbClr val="161613"/>
                </a:solidFill>
                <a:latin typeface="DM Sans Medium" pitchFamily="34" charset="0"/>
                <a:ea typeface="DM Sans Medium" pitchFamily="34" charset="-122"/>
                <a:cs typeface="DM Sans Medium" pitchFamily="34" charset="-120"/>
              </a:rPr>
              <a:t>Objectives &amp; Goals</a:t>
            </a:r>
            <a:endParaRPr lang="en-US" sz="4450" dirty="0"/>
          </a:p>
        </p:txBody>
      </p:sp>
      <p:sp>
        <p:nvSpPr>
          <p:cNvPr id="3" name="Shape 1"/>
          <p:cNvSpPr/>
          <p:nvPr/>
        </p:nvSpPr>
        <p:spPr>
          <a:xfrm>
            <a:off x="793790" y="3044547"/>
            <a:ext cx="4196358" cy="3302913"/>
          </a:xfrm>
          <a:prstGeom prst="roundRect">
            <a:avLst>
              <a:gd name="adj" fmla="val 1030"/>
            </a:avLst>
          </a:prstGeom>
          <a:solidFill>
            <a:srgbClr val="EDEBE3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4" name="Shape 2"/>
          <p:cNvSpPr/>
          <p:nvPr/>
        </p:nvSpPr>
        <p:spPr>
          <a:xfrm>
            <a:off x="1020604" y="3271361"/>
            <a:ext cx="680442" cy="680442"/>
          </a:xfrm>
          <a:prstGeom prst="roundRect">
            <a:avLst>
              <a:gd name="adj" fmla="val 13436980"/>
            </a:avLst>
          </a:prstGeom>
          <a:solidFill>
            <a:srgbClr val="28282F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207770" y="3458408"/>
            <a:ext cx="306110" cy="30611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020604" y="4178617"/>
            <a:ext cx="3139202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161613"/>
                </a:solidFill>
                <a:latin typeface="DM Sans Medium" pitchFamily="34" charset="0"/>
                <a:ea typeface="DM Sans Medium" pitchFamily="34" charset="-122"/>
                <a:cs typeface="DM Sans Medium" pitchFamily="34" charset="-120"/>
              </a:rPr>
              <a:t>Compare Architectures</a:t>
            </a:r>
            <a:endParaRPr lang="en-US" sz="2200" dirty="0"/>
          </a:p>
        </p:txBody>
      </p:sp>
      <p:sp>
        <p:nvSpPr>
          <p:cNvPr id="7" name="Text 4"/>
          <p:cNvSpPr/>
          <p:nvPr/>
        </p:nvSpPr>
        <p:spPr>
          <a:xfrm>
            <a:off x="1020604" y="4669036"/>
            <a:ext cx="3742730" cy="10887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16161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Evaluate performance differences between ANN and CNN models on Fashion-MNIST dataset.</a:t>
            </a:r>
            <a:endParaRPr lang="en-US" sz="1750" dirty="0"/>
          </a:p>
        </p:txBody>
      </p:sp>
      <p:sp>
        <p:nvSpPr>
          <p:cNvPr id="8" name="Shape 5"/>
          <p:cNvSpPr/>
          <p:nvPr/>
        </p:nvSpPr>
        <p:spPr>
          <a:xfrm>
            <a:off x="5216962" y="3044547"/>
            <a:ext cx="4196358" cy="3302913"/>
          </a:xfrm>
          <a:prstGeom prst="roundRect">
            <a:avLst>
              <a:gd name="adj" fmla="val 1030"/>
            </a:avLst>
          </a:prstGeom>
          <a:solidFill>
            <a:srgbClr val="EDEBE3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9" name="Shape 6"/>
          <p:cNvSpPr/>
          <p:nvPr/>
        </p:nvSpPr>
        <p:spPr>
          <a:xfrm>
            <a:off x="5443776" y="3271361"/>
            <a:ext cx="680442" cy="680442"/>
          </a:xfrm>
          <a:prstGeom prst="roundRect">
            <a:avLst>
              <a:gd name="adj" fmla="val 13436980"/>
            </a:avLst>
          </a:prstGeom>
          <a:solidFill>
            <a:srgbClr val="28282F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10" name="Image 1" descr="preencoded.png"/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5630942" y="3458408"/>
            <a:ext cx="306110" cy="306110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5443776" y="4178617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161613"/>
                </a:solidFill>
                <a:latin typeface="DM Sans Medium" pitchFamily="34" charset="0"/>
                <a:ea typeface="DM Sans Medium" pitchFamily="34" charset="-122"/>
                <a:cs typeface="DM Sans Medium" pitchFamily="34" charset="-120"/>
              </a:rPr>
              <a:t>Maximize Accuracy</a:t>
            </a:r>
            <a:endParaRPr lang="en-US" sz="2200" dirty="0"/>
          </a:p>
        </p:txBody>
      </p:sp>
      <p:sp>
        <p:nvSpPr>
          <p:cNvPr id="12" name="Text 8"/>
          <p:cNvSpPr/>
          <p:nvPr/>
        </p:nvSpPr>
        <p:spPr>
          <a:xfrm>
            <a:off x="5443776" y="4669036"/>
            <a:ext cx="3742730" cy="14516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16161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Identify techniques and methods that produce highest classification accuracy across 10 clothing categories.</a:t>
            </a:r>
            <a:endParaRPr lang="en-US" sz="1750" dirty="0"/>
          </a:p>
        </p:txBody>
      </p:sp>
      <p:sp>
        <p:nvSpPr>
          <p:cNvPr id="13" name="Shape 9"/>
          <p:cNvSpPr/>
          <p:nvPr/>
        </p:nvSpPr>
        <p:spPr>
          <a:xfrm>
            <a:off x="9640133" y="3044547"/>
            <a:ext cx="4196358" cy="3302913"/>
          </a:xfrm>
          <a:prstGeom prst="roundRect">
            <a:avLst>
              <a:gd name="adj" fmla="val 1030"/>
            </a:avLst>
          </a:prstGeom>
          <a:solidFill>
            <a:srgbClr val="EDEBE3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4" name="Shape 10"/>
          <p:cNvSpPr/>
          <p:nvPr/>
        </p:nvSpPr>
        <p:spPr>
          <a:xfrm>
            <a:off x="9866948" y="3271361"/>
            <a:ext cx="680442" cy="680442"/>
          </a:xfrm>
          <a:prstGeom prst="roundRect">
            <a:avLst>
              <a:gd name="adj" fmla="val 13436980"/>
            </a:avLst>
          </a:prstGeom>
          <a:solidFill>
            <a:srgbClr val="28282F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15" name="Image 2" descr="preencoded.png"/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10054114" y="3458408"/>
            <a:ext cx="306110" cy="306110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9866948" y="4178617"/>
            <a:ext cx="2990969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161613"/>
                </a:solidFill>
                <a:latin typeface="DM Sans Medium" pitchFamily="34" charset="0"/>
                <a:ea typeface="DM Sans Medium" pitchFamily="34" charset="-122"/>
                <a:cs typeface="DM Sans Medium" pitchFamily="34" charset="-120"/>
              </a:rPr>
              <a:t>Optimize Performance</a:t>
            </a:r>
            <a:endParaRPr lang="en-US" sz="2200" dirty="0"/>
          </a:p>
        </p:txBody>
      </p:sp>
      <p:sp>
        <p:nvSpPr>
          <p:cNvPr id="17" name="Text 12"/>
          <p:cNvSpPr/>
          <p:nvPr/>
        </p:nvSpPr>
        <p:spPr>
          <a:xfrm>
            <a:off x="9866948" y="4669036"/>
            <a:ext cx="3742730" cy="14516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16161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Apply regularization, augmentation, and normalization to improve model generalization and reduce overfitting.</a:t>
            </a:r>
            <a:endParaRPr lang="en-US" sz="17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1504593"/>
            <a:ext cx="6860977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dirty="0">
                <a:solidFill>
                  <a:srgbClr val="161613"/>
                </a:solidFill>
                <a:latin typeface="DM Sans Medium" pitchFamily="34" charset="0"/>
                <a:ea typeface="DM Sans Medium" pitchFamily="34" charset="-122"/>
                <a:cs typeface="DM Sans Medium" pitchFamily="34" charset="-120"/>
              </a:rPr>
              <a:t>Methodology &amp; Approach</a:t>
            </a:r>
            <a:endParaRPr lang="en-US" sz="4450" dirty="0"/>
          </a:p>
        </p:txBody>
      </p:sp>
      <p:sp>
        <p:nvSpPr>
          <p:cNvPr id="3" name="Text 1"/>
          <p:cNvSpPr/>
          <p:nvPr/>
        </p:nvSpPr>
        <p:spPr>
          <a:xfrm>
            <a:off x="793790" y="2667000"/>
            <a:ext cx="226814" cy="2834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161613"/>
                </a:solidFill>
                <a:latin typeface="DM Sans Light" pitchFamily="34" charset="0"/>
                <a:ea typeface="DM Sans Light" pitchFamily="34" charset="-122"/>
                <a:cs typeface="DM Sans Light" pitchFamily="34" charset="-120"/>
              </a:rPr>
              <a:t>01</a:t>
            </a:r>
            <a:endParaRPr lang="en-US" sz="1750" dirty="0"/>
          </a:p>
        </p:txBody>
      </p:sp>
      <p:sp>
        <p:nvSpPr>
          <p:cNvPr id="4" name="Shape 2"/>
          <p:cNvSpPr/>
          <p:nvPr/>
        </p:nvSpPr>
        <p:spPr>
          <a:xfrm>
            <a:off x="793790" y="3022044"/>
            <a:ext cx="6407944" cy="30480"/>
          </a:xfrm>
          <a:prstGeom prst="rect">
            <a:avLst/>
          </a:prstGeom>
          <a:solidFill>
            <a:srgbClr val="28282F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5" name="Text 3"/>
          <p:cNvSpPr/>
          <p:nvPr/>
        </p:nvSpPr>
        <p:spPr>
          <a:xfrm>
            <a:off x="793790" y="3196352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161613"/>
                </a:solidFill>
                <a:latin typeface="DM Sans Medium" pitchFamily="34" charset="0"/>
                <a:ea typeface="DM Sans Medium" pitchFamily="34" charset="-122"/>
                <a:cs typeface="DM Sans Medium" pitchFamily="34" charset="-120"/>
              </a:rPr>
              <a:t>Dataset Preparation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793790" y="3686770"/>
            <a:ext cx="6407944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16161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48,000 training samples, 12,000 validation, 10,000 testing samples from Fashion-MNIST.</a:t>
            </a:r>
            <a:endParaRPr lang="en-US" sz="1750" dirty="0"/>
          </a:p>
        </p:txBody>
      </p:sp>
      <p:sp>
        <p:nvSpPr>
          <p:cNvPr id="7" name="Text 5"/>
          <p:cNvSpPr/>
          <p:nvPr/>
        </p:nvSpPr>
        <p:spPr>
          <a:xfrm>
            <a:off x="7428548" y="2667000"/>
            <a:ext cx="226814" cy="2834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161613"/>
                </a:solidFill>
                <a:latin typeface="DM Sans Light" pitchFamily="34" charset="0"/>
                <a:ea typeface="DM Sans Light" pitchFamily="34" charset="-122"/>
                <a:cs typeface="DM Sans Light" pitchFamily="34" charset="-120"/>
              </a:rPr>
              <a:t>02</a:t>
            </a:r>
            <a:endParaRPr lang="en-US" sz="1750" dirty="0"/>
          </a:p>
        </p:txBody>
      </p:sp>
      <p:sp>
        <p:nvSpPr>
          <p:cNvPr id="8" name="Shape 6"/>
          <p:cNvSpPr/>
          <p:nvPr/>
        </p:nvSpPr>
        <p:spPr>
          <a:xfrm>
            <a:off x="7428548" y="3022044"/>
            <a:ext cx="6408063" cy="30480"/>
          </a:xfrm>
          <a:prstGeom prst="rect">
            <a:avLst/>
          </a:prstGeom>
          <a:solidFill>
            <a:srgbClr val="28282F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9" name="Text 7"/>
          <p:cNvSpPr/>
          <p:nvPr/>
        </p:nvSpPr>
        <p:spPr>
          <a:xfrm>
            <a:off x="7428548" y="3196352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161613"/>
                </a:solidFill>
                <a:latin typeface="DM Sans Medium" pitchFamily="34" charset="0"/>
                <a:ea typeface="DM Sans Medium" pitchFamily="34" charset="-122"/>
                <a:cs typeface="DM Sans Medium" pitchFamily="34" charset="-120"/>
              </a:rPr>
              <a:t>Model Development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7428548" y="3686770"/>
            <a:ext cx="6408063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16161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Built Original ANN (MLP) and CNN as baselines, then created improved versions with advanced techniques.</a:t>
            </a:r>
            <a:endParaRPr lang="en-US" sz="1750" dirty="0"/>
          </a:p>
        </p:txBody>
      </p:sp>
      <p:sp>
        <p:nvSpPr>
          <p:cNvPr id="11" name="Text 9"/>
          <p:cNvSpPr/>
          <p:nvPr/>
        </p:nvSpPr>
        <p:spPr>
          <a:xfrm>
            <a:off x="793790" y="4809411"/>
            <a:ext cx="226814" cy="2834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161613"/>
                </a:solidFill>
                <a:latin typeface="DM Sans Light" pitchFamily="34" charset="0"/>
                <a:ea typeface="DM Sans Light" pitchFamily="34" charset="-122"/>
                <a:cs typeface="DM Sans Light" pitchFamily="34" charset="-120"/>
              </a:rPr>
              <a:t>03</a:t>
            </a:r>
            <a:endParaRPr lang="en-US" sz="1750" dirty="0"/>
          </a:p>
        </p:txBody>
      </p:sp>
      <p:sp>
        <p:nvSpPr>
          <p:cNvPr id="12" name="Shape 10"/>
          <p:cNvSpPr/>
          <p:nvPr/>
        </p:nvSpPr>
        <p:spPr>
          <a:xfrm>
            <a:off x="793790" y="5164455"/>
            <a:ext cx="6407944" cy="30480"/>
          </a:xfrm>
          <a:prstGeom prst="rect">
            <a:avLst/>
          </a:prstGeom>
          <a:solidFill>
            <a:srgbClr val="28282F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3" name="Text 11"/>
          <p:cNvSpPr/>
          <p:nvPr/>
        </p:nvSpPr>
        <p:spPr>
          <a:xfrm>
            <a:off x="793790" y="5338763"/>
            <a:ext cx="2945130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161613"/>
                </a:solidFill>
                <a:latin typeface="DM Sans Medium" pitchFamily="34" charset="0"/>
                <a:ea typeface="DM Sans Medium" pitchFamily="34" charset="-122"/>
                <a:cs typeface="DM Sans Medium" pitchFamily="34" charset="-120"/>
              </a:rPr>
              <a:t>Training Configuration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793790" y="5829181"/>
            <a:ext cx="6407944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16161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Adam optimizer and Cross-Entropy Loss used across all models for consistent comparison.</a:t>
            </a:r>
            <a:endParaRPr lang="en-US" sz="1750" dirty="0"/>
          </a:p>
        </p:txBody>
      </p:sp>
      <p:sp>
        <p:nvSpPr>
          <p:cNvPr id="15" name="Text 13"/>
          <p:cNvSpPr/>
          <p:nvPr/>
        </p:nvSpPr>
        <p:spPr>
          <a:xfrm>
            <a:off x="7428548" y="4809411"/>
            <a:ext cx="226814" cy="2834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161613"/>
                </a:solidFill>
                <a:latin typeface="DM Sans Light" pitchFamily="34" charset="0"/>
                <a:ea typeface="DM Sans Light" pitchFamily="34" charset="-122"/>
                <a:cs typeface="DM Sans Light" pitchFamily="34" charset="-120"/>
              </a:rPr>
              <a:t>04</a:t>
            </a:r>
            <a:endParaRPr lang="en-US" sz="1750" dirty="0"/>
          </a:p>
        </p:txBody>
      </p:sp>
      <p:sp>
        <p:nvSpPr>
          <p:cNvPr id="16" name="Shape 14"/>
          <p:cNvSpPr/>
          <p:nvPr/>
        </p:nvSpPr>
        <p:spPr>
          <a:xfrm>
            <a:off x="7428548" y="5164455"/>
            <a:ext cx="6408063" cy="30480"/>
          </a:xfrm>
          <a:prstGeom prst="rect">
            <a:avLst/>
          </a:prstGeom>
          <a:solidFill>
            <a:srgbClr val="28282F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7" name="Text 15"/>
          <p:cNvSpPr/>
          <p:nvPr/>
        </p:nvSpPr>
        <p:spPr>
          <a:xfrm>
            <a:off x="7428548" y="5338763"/>
            <a:ext cx="3160990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161613"/>
                </a:solidFill>
                <a:latin typeface="DM Sans Medium" pitchFamily="34" charset="0"/>
                <a:ea typeface="DM Sans Medium" pitchFamily="34" charset="-122"/>
                <a:cs typeface="DM Sans Medium" pitchFamily="34" charset="-120"/>
              </a:rPr>
              <a:t>Performance Evaluation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7428548" y="5829181"/>
            <a:ext cx="6408063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16161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Measured validation and test accuracy to determine optimal architecture and regularization methods.</a:t>
            </a:r>
            <a:endParaRPr lang="en-US" sz="17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1637109"/>
            <a:ext cx="5670590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dirty="0">
                <a:solidFill>
                  <a:srgbClr val="161613"/>
                </a:solidFill>
                <a:latin typeface="DM Sans Medium" pitchFamily="34" charset="0"/>
                <a:ea typeface="DM Sans Medium" pitchFamily="34" charset="-122"/>
                <a:cs typeface="DM Sans Medium" pitchFamily="34" charset="-120"/>
              </a:rPr>
              <a:t>Model Architectures</a:t>
            </a:r>
            <a:endParaRPr lang="en-US" sz="4450" dirty="0"/>
          </a:p>
        </p:txBody>
      </p:sp>
      <p:sp>
        <p:nvSpPr>
          <p:cNvPr id="3" name="Text 1"/>
          <p:cNvSpPr/>
          <p:nvPr/>
        </p:nvSpPr>
        <p:spPr>
          <a:xfrm>
            <a:off x="793790" y="2912864"/>
            <a:ext cx="3402330" cy="4252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300"/>
              </a:lnSpc>
              <a:buNone/>
            </a:pPr>
            <a:r>
              <a:rPr lang="en-US" sz="2650" dirty="0">
                <a:solidFill>
                  <a:srgbClr val="161613"/>
                </a:solidFill>
                <a:latin typeface="DM Sans Medium" pitchFamily="34" charset="0"/>
                <a:ea typeface="DM Sans Medium" pitchFamily="34" charset="-122"/>
                <a:cs typeface="DM Sans Medium" pitchFamily="34" charset="-120"/>
              </a:rPr>
              <a:t>Original Models</a:t>
            </a:r>
            <a:endParaRPr lang="en-US" sz="2650" dirty="0"/>
          </a:p>
        </p:txBody>
      </p:sp>
      <p:sp>
        <p:nvSpPr>
          <p:cNvPr id="4" name="Text 2"/>
          <p:cNvSpPr/>
          <p:nvPr/>
        </p:nvSpPr>
        <p:spPr>
          <a:xfrm>
            <a:off x="793790" y="3564969"/>
            <a:ext cx="6244709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b="1" dirty="0">
                <a:solidFill>
                  <a:srgbClr val="16161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ANN (MLP) - 10 Epochs</a:t>
            </a:r>
            <a:endParaRPr lang="en-US" sz="1750" dirty="0"/>
          </a:p>
        </p:txBody>
      </p:sp>
      <p:sp>
        <p:nvSpPr>
          <p:cNvPr id="5" name="Text 3"/>
          <p:cNvSpPr/>
          <p:nvPr/>
        </p:nvSpPr>
        <p:spPr>
          <a:xfrm>
            <a:off x="793790" y="4131945"/>
            <a:ext cx="6244709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16161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Three FC layers: 784→128→64→10</a:t>
            </a:r>
            <a:endParaRPr lang="en-US" sz="1750" dirty="0"/>
          </a:p>
        </p:txBody>
      </p:sp>
      <p:sp>
        <p:nvSpPr>
          <p:cNvPr id="6" name="Text 4"/>
          <p:cNvSpPr/>
          <p:nvPr/>
        </p:nvSpPr>
        <p:spPr>
          <a:xfrm>
            <a:off x="793790" y="4574143"/>
            <a:ext cx="6244709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16161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Baseline benchmark model</a:t>
            </a:r>
            <a:endParaRPr lang="en-US" sz="1750" dirty="0"/>
          </a:p>
        </p:txBody>
      </p:sp>
      <p:sp>
        <p:nvSpPr>
          <p:cNvPr id="7" name="Text 5"/>
          <p:cNvSpPr/>
          <p:nvPr/>
        </p:nvSpPr>
        <p:spPr>
          <a:xfrm>
            <a:off x="793790" y="5141119"/>
            <a:ext cx="6244709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b="1" dirty="0">
                <a:solidFill>
                  <a:srgbClr val="16161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CNN - 10 Epochs</a:t>
            </a:r>
            <a:endParaRPr lang="en-US" sz="1750" dirty="0"/>
          </a:p>
        </p:txBody>
      </p:sp>
      <p:sp>
        <p:nvSpPr>
          <p:cNvPr id="8" name="Text 6"/>
          <p:cNvSpPr/>
          <p:nvPr/>
        </p:nvSpPr>
        <p:spPr>
          <a:xfrm>
            <a:off x="793790" y="5708094"/>
            <a:ext cx="6244709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16161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Two convolutional layers</a:t>
            </a:r>
            <a:endParaRPr lang="en-US" sz="1750" dirty="0"/>
          </a:p>
        </p:txBody>
      </p:sp>
      <p:sp>
        <p:nvSpPr>
          <p:cNvPr id="9" name="Text 7"/>
          <p:cNvSpPr/>
          <p:nvPr/>
        </p:nvSpPr>
        <p:spPr>
          <a:xfrm>
            <a:off x="793790" y="6150293"/>
            <a:ext cx="6244709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16161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Max Pooling + two FC layers</a:t>
            </a:r>
            <a:endParaRPr lang="en-US" sz="1750" dirty="0"/>
          </a:p>
        </p:txBody>
      </p:sp>
      <p:sp>
        <p:nvSpPr>
          <p:cNvPr id="10" name="Text 8"/>
          <p:cNvSpPr/>
          <p:nvPr/>
        </p:nvSpPr>
        <p:spPr>
          <a:xfrm>
            <a:off x="7599521" y="2912864"/>
            <a:ext cx="3402330" cy="4252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300"/>
              </a:lnSpc>
              <a:buNone/>
            </a:pPr>
            <a:r>
              <a:rPr lang="en-US" sz="2650" dirty="0">
                <a:solidFill>
                  <a:srgbClr val="161613"/>
                </a:solidFill>
                <a:latin typeface="DM Sans Medium" pitchFamily="34" charset="0"/>
                <a:ea typeface="DM Sans Medium" pitchFamily="34" charset="-122"/>
                <a:cs typeface="DM Sans Medium" pitchFamily="34" charset="-120"/>
              </a:rPr>
              <a:t>Improved Models</a:t>
            </a:r>
            <a:endParaRPr lang="en-US" sz="2650" dirty="0"/>
          </a:p>
        </p:txBody>
      </p:sp>
      <p:sp>
        <p:nvSpPr>
          <p:cNvPr id="11" name="Text 9"/>
          <p:cNvSpPr/>
          <p:nvPr/>
        </p:nvSpPr>
        <p:spPr>
          <a:xfrm>
            <a:off x="7599521" y="3564969"/>
            <a:ext cx="6244709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b="1" dirty="0">
                <a:solidFill>
                  <a:srgbClr val="16161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Improved ANN - 20 Epochs</a:t>
            </a:r>
            <a:endParaRPr lang="en-US" sz="1750" dirty="0"/>
          </a:p>
        </p:txBody>
      </p:sp>
      <p:sp>
        <p:nvSpPr>
          <p:cNvPr id="12" name="Text 10"/>
          <p:cNvSpPr/>
          <p:nvPr/>
        </p:nvSpPr>
        <p:spPr>
          <a:xfrm>
            <a:off x="7599521" y="4131945"/>
            <a:ext cx="6244709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16161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4 deeper FC layers</a:t>
            </a:r>
            <a:endParaRPr lang="en-US" sz="1750" dirty="0"/>
          </a:p>
        </p:txBody>
      </p:sp>
      <p:sp>
        <p:nvSpPr>
          <p:cNvPr id="13" name="Text 11"/>
          <p:cNvSpPr/>
          <p:nvPr/>
        </p:nvSpPr>
        <p:spPr>
          <a:xfrm>
            <a:off x="7599521" y="4574143"/>
            <a:ext cx="6244709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16161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BatchNorm1d + Dropout (0.5)</a:t>
            </a:r>
            <a:endParaRPr lang="en-US" sz="1750" dirty="0"/>
          </a:p>
        </p:txBody>
      </p:sp>
      <p:sp>
        <p:nvSpPr>
          <p:cNvPr id="14" name="Text 12"/>
          <p:cNvSpPr/>
          <p:nvPr/>
        </p:nvSpPr>
        <p:spPr>
          <a:xfrm>
            <a:off x="7599521" y="5141119"/>
            <a:ext cx="6244709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b="1" dirty="0">
                <a:solidFill>
                  <a:srgbClr val="16161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Improved CNN - 20 Epochs</a:t>
            </a:r>
            <a:endParaRPr lang="en-US" sz="1750" dirty="0"/>
          </a:p>
        </p:txBody>
      </p:sp>
      <p:sp>
        <p:nvSpPr>
          <p:cNvPr id="15" name="Text 13"/>
          <p:cNvSpPr/>
          <p:nvPr/>
        </p:nvSpPr>
        <p:spPr>
          <a:xfrm>
            <a:off x="7599521" y="5708094"/>
            <a:ext cx="6244709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16161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BatchNorm2d after convolutions</a:t>
            </a:r>
            <a:endParaRPr lang="en-US" sz="1750" dirty="0"/>
          </a:p>
        </p:txBody>
      </p:sp>
      <p:sp>
        <p:nvSpPr>
          <p:cNvPr id="16" name="Text 14"/>
          <p:cNvSpPr/>
          <p:nvPr/>
        </p:nvSpPr>
        <p:spPr>
          <a:xfrm>
            <a:off x="7599521" y="6150293"/>
            <a:ext cx="6244709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16161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Dropout (0.25) + Data Augmentation</a:t>
            </a:r>
            <a:endParaRPr lang="en-US" sz="17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945118"/>
            <a:ext cx="8818721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dirty="0">
                <a:solidFill>
                  <a:srgbClr val="161613"/>
                </a:solidFill>
                <a:latin typeface="DM Sans Medium" pitchFamily="34" charset="0"/>
                <a:ea typeface="DM Sans Medium" pitchFamily="34" charset="-122"/>
                <a:cs typeface="DM Sans Medium" pitchFamily="34" charset="-120"/>
              </a:rPr>
              <a:t>Key Innovations in Improved CNN</a:t>
            </a:r>
            <a:endParaRPr lang="en-US" sz="445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793790" y="2107525"/>
            <a:ext cx="680442" cy="680442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793790" y="3071455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161613"/>
                </a:solidFill>
                <a:latin typeface="DM Sans Medium" pitchFamily="34" charset="0"/>
                <a:ea typeface="DM Sans Medium" pitchFamily="34" charset="-122"/>
                <a:cs typeface="DM Sans Medium" pitchFamily="34" charset="-120"/>
              </a:rPr>
              <a:t>Data Augmentation</a:t>
            </a:r>
            <a:endParaRPr lang="en-US" sz="2200" dirty="0"/>
          </a:p>
        </p:txBody>
      </p:sp>
      <p:sp>
        <p:nvSpPr>
          <p:cNvPr id="5" name="Text 2"/>
          <p:cNvSpPr/>
          <p:nvPr/>
        </p:nvSpPr>
        <p:spPr>
          <a:xfrm>
            <a:off x="793790" y="3561874"/>
            <a:ext cx="6379607" cy="10887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16161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Random horizontal flipping and slight rotation expanded training dataset, significantly improving model generalization capabilities.</a:t>
            </a:r>
            <a:endParaRPr lang="en-US" sz="1750" dirty="0"/>
          </a:p>
        </p:txBody>
      </p:sp>
      <p:pic>
        <p:nvPicPr>
          <p:cNvPr id="6" name="Image 1" descr="preencoded.png"/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7456884" y="2107525"/>
            <a:ext cx="680442" cy="680442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7456884" y="3071455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161613"/>
                </a:solidFill>
                <a:latin typeface="DM Sans Medium" pitchFamily="34" charset="0"/>
                <a:ea typeface="DM Sans Medium" pitchFamily="34" charset="-122"/>
                <a:cs typeface="DM Sans Medium" pitchFamily="34" charset="-120"/>
              </a:rPr>
              <a:t>Batch Normalization</a:t>
            </a:r>
            <a:endParaRPr lang="en-US" sz="2200" dirty="0"/>
          </a:p>
        </p:txBody>
      </p:sp>
      <p:sp>
        <p:nvSpPr>
          <p:cNvPr id="8" name="Text 4"/>
          <p:cNvSpPr/>
          <p:nvPr/>
        </p:nvSpPr>
        <p:spPr>
          <a:xfrm>
            <a:off x="7456884" y="3561874"/>
            <a:ext cx="6379726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16161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BatchNorm2d normalized layer activations for more stable and faster training convergence.</a:t>
            </a:r>
            <a:endParaRPr lang="en-US" sz="1750" dirty="0"/>
          </a:p>
        </p:txBody>
      </p:sp>
      <p:pic>
        <p:nvPicPr>
          <p:cNvPr id="9" name="Image 2" descr="preencoded.png"/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793790" y="5104209"/>
            <a:ext cx="680442" cy="680442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793790" y="6068139"/>
            <a:ext cx="3040023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161613"/>
                </a:solidFill>
                <a:latin typeface="DM Sans Medium" pitchFamily="34" charset="0"/>
                <a:ea typeface="DM Sans Medium" pitchFamily="34" charset="-122"/>
                <a:cs typeface="DM Sans Medium" pitchFamily="34" charset="-120"/>
              </a:rPr>
              <a:t>Dropout Regularization</a:t>
            </a:r>
            <a:endParaRPr lang="en-US" sz="2200" dirty="0"/>
          </a:p>
        </p:txBody>
      </p:sp>
      <p:sp>
        <p:nvSpPr>
          <p:cNvPr id="11" name="Text 6"/>
          <p:cNvSpPr/>
          <p:nvPr/>
        </p:nvSpPr>
        <p:spPr>
          <a:xfrm>
            <a:off x="793790" y="6558558"/>
            <a:ext cx="6379607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16161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0.25 dropout ratio in FC layers prevented feature co-adaptation and controlled overfitting effectively.</a:t>
            </a:r>
            <a:endParaRPr lang="en-US" sz="1750" dirty="0"/>
          </a:p>
        </p:txBody>
      </p:sp>
      <p:pic>
        <p:nvPicPr>
          <p:cNvPr id="12" name="Image 3" descr="preencoded.png"/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7456884" y="5104209"/>
            <a:ext cx="680442" cy="680442"/>
          </a:xfrm>
          <a:prstGeom prst="rect">
            <a:avLst/>
          </a:prstGeom>
        </p:spPr>
      </p:pic>
      <p:sp>
        <p:nvSpPr>
          <p:cNvPr id="13" name="Text 7"/>
          <p:cNvSpPr/>
          <p:nvPr/>
        </p:nvSpPr>
        <p:spPr>
          <a:xfrm>
            <a:off x="7456884" y="6068139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161613"/>
                </a:solidFill>
                <a:latin typeface="DM Sans Medium" pitchFamily="34" charset="0"/>
                <a:ea typeface="DM Sans Medium" pitchFamily="34" charset="-122"/>
                <a:cs typeface="DM Sans Medium" pitchFamily="34" charset="-120"/>
              </a:rPr>
              <a:t>LR Scheduling</a:t>
            </a:r>
            <a:endParaRPr lang="en-US" sz="2200" dirty="0"/>
          </a:p>
        </p:txBody>
      </p:sp>
      <p:sp>
        <p:nvSpPr>
          <p:cNvPr id="14" name="Text 8"/>
          <p:cNvSpPr/>
          <p:nvPr/>
        </p:nvSpPr>
        <p:spPr>
          <a:xfrm>
            <a:off x="7456884" y="6558558"/>
            <a:ext cx="6379726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16161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StepLR scheduler reduced learning rate by 0.1 every 7 epochs for optimal weight fine-tuning.</a:t>
            </a:r>
            <a:endParaRPr lang="en-US" sz="17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2688788"/>
            <a:ext cx="9480471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dirty="0">
                <a:solidFill>
                  <a:srgbClr val="161613"/>
                </a:solidFill>
                <a:latin typeface="DM Sans Medium" pitchFamily="34" charset="0"/>
                <a:ea typeface="DM Sans Medium" pitchFamily="34" charset="-122"/>
                <a:cs typeface="DM Sans Medium" pitchFamily="34" charset="-120"/>
              </a:rPr>
              <a:t>Results &amp; Performance Comparison</a:t>
            </a:r>
            <a:endParaRPr lang="en-US" sz="4450" dirty="0"/>
          </a:p>
        </p:txBody>
      </p:sp>
      <p:sp>
        <p:nvSpPr>
          <p:cNvPr id="3" name="Text 1"/>
          <p:cNvSpPr/>
          <p:nvPr/>
        </p:nvSpPr>
        <p:spPr>
          <a:xfrm>
            <a:off x="793790" y="3851196"/>
            <a:ext cx="13042821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16161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Original ANN: 88.64% validation, 87.43% test accuracy</a:t>
            </a:r>
            <a:endParaRPr lang="en-US" sz="1750" dirty="0"/>
          </a:p>
        </p:txBody>
      </p:sp>
      <p:sp>
        <p:nvSpPr>
          <p:cNvPr id="4" name="Text 2"/>
          <p:cNvSpPr/>
          <p:nvPr/>
        </p:nvSpPr>
        <p:spPr>
          <a:xfrm>
            <a:off x="793790" y="4293394"/>
            <a:ext cx="13042821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16161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Original CNN: 91.17% validation, 90.89% test accuracy</a:t>
            </a:r>
            <a:endParaRPr lang="en-US" sz="1750" dirty="0"/>
          </a:p>
        </p:txBody>
      </p:sp>
      <p:sp>
        <p:nvSpPr>
          <p:cNvPr id="5" name="Text 3"/>
          <p:cNvSpPr/>
          <p:nvPr/>
        </p:nvSpPr>
        <p:spPr>
          <a:xfrm>
            <a:off x="793790" y="4735592"/>
            <a:ext cx="13042821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16161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Improved ANN: 88.53% validation, 87.35% test accuracy</a:t>
            </a:r>
            <a:endParaRPr lang="en-US" sz="1750" dirty="0"/>
          </a:p>
        </p:txBody>
      </p:sp>
      <p:sp>
        <p:nvSpPr>
          <p:cNvPr id="6" name="Text 4"/>
          <p:cNvSpPr/>
          <p:nvPr/>
        </p:nvSpPr>
        <p:spPr>
          <a:xfrm>
            <a:off x="793790" y="5177790"/>
            <a:ext cx="13042821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16161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Improved CNN: 93.62% validation, 91.55% test accuracy</a:t>
            </a:r>
            <a:endParaRPr lang="en-US" sz="17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1028819"/>
            <a:ext cx="6784419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dirty="0">
                <a:solidFill>
                  <a:srgbClr val="161613"/>
                </a:solidFill>
                <a:latin typeface="DM Sans Medium" pitchFamily="34" charset="0"/>
                <a:ea typeface="DM Sans Medium" pitchFamily="34" charset="-122"/>
                <a:cs typeface="DM Sans Medium" pitchFamily="34" charset="-120"/>
              </a:rPr>
              <a:t>Discussion &amp; Key Insights</a:t>
            </a:r>
            <a:endParaRPr lang="en-US" sz="445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3790" y="2191226"/>
            <a:ext cx="1134070" cy="1669852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2154674" y="2418040"/>
            <a:ext cx="3650694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161613"/>
                </a:solidFill>
                <a:latin typeface="DM Sans Medium" pitchFamily="34" charset="0"/>
                <a:ea typeface="DM Sans Medium" pitchFamily="34" charset="-122"/>
                <a:cs typeface="DM Sans Medium" pitchFamily="34" charset="-120"/>
              </a:rPr>
              <a:t>CNN Superiority Confirmed</a:t>
            </a:r>
            <a:endParaRPr lang="en-US" sz="2200" dirty="0"/>
          </a:p>
        </p:txBody>
      </p:sp>
      <p:sp>
        <p:nvSpPr>
          <p:cNvPr id="5" name="Text 2"/>
          <p:cNvSpPr/>
          <p:nvPr/>
        </p:nvSpPr>
        <p:spPr>
          <a:xfrm>
            <a:off x="2154674" y="2908459"/>
            <a:ext cx="11681936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16161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Convolutional networks significantly outperformed fully connected architectures for spatial image data, with Original CNN achieving +3.46 percentage points over Original ANN.</a:t>
            </a:r>
            <a:endParaRPr lang="en-US" sz="1750" dirty="0"/>
          </a:p>
        </p:txBody>
      </p:sp>
      <p:pic>
        <p:nvPicPr>
          <p:cNvPr id="6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93790" y="3861078"/>
            <a:ext cx="1134070" cy="1669852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2154674" y="4087892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161613"/>
                </a:solidFill>
                <a:latin typeface="DM Sans Medium" pitchFamily="34" charset="0"/>
                <a:ea typeface="DM Sans Medium" pitchFamily="34" charset="-122"/>
                <a:cs typeface="DM Sans Medium" pitchFamily="34" charset="-120"/>
              </a:rPr>
              <a:t>ANN Limitations</a:t>
            </a:r>
            <a:endParaRPr lang="en-US" sz="2200" dirty="0"/>
          </a:p>
        </p:txBody>
      </p:sp>
      <p:sp>
        <p:nvSpPr>
          <p:cNvPr id="8" name="Text 4"/>
          <p:cNvSpPr/>
          <p:nvPr/>
        </p:nvSpPr>
        <p:spPr>
          <a:xfrm>
            <a:off x="2154674" y="4578310"/>
            <a:ext cx="11681936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16161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Regularization techniques could not overcome fundamental shortcomings of ANNs in handling spatial image features, showing diminishing returns.</a:t>
            </a:r>
            <a:endParaRPr lang="en-US" sz="1750" dirty="0"/>
          </a:p>
        </p:txBody>
      </p:sp>
      <p:pic>
        <p:nvPicPr>
          <p:cNvPr id="9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93790" y="5530929"/>
            <a:ext cx="1134070" cy="1669852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2154674" y="5757743"/>
            <a:ext cx="3333869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161613"/>
                </a:solidFill>
                <a:latin typeface="DM Sans Medium" pitchFamily="34" charset="0"/>
                <a:ea typeface="DM Sans Medium" pitchFamily="34" charset="-122"/>
                <a:cs typeface="DM Sans Medium" pitchFamily="34" charset="-120"/>
              </a:rPr>
              <a:t>Classification Challenges</a:t>
            </a:r>
            <a:endParaRPr lang="en-US" sz="2200" dirty="0"/>
          </a:p>
        </p:txBody>
      </p:sp>
      <p:sp>
        <p:nvSpPr>
          <p:cNvPr id="11" name="Text 6"/>
          <p:cNvSpPr/>
          <p:nvPr/>
        </p:nvSpPr>
        <p:spPr>
          <a:xfrm>
            <a:off x="2154674" y="6248162"/>
            <a:ext cx="11681936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16161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Most difficult cases involve visually similar items: 'Shirt' vs. 'T-shirt/top' and 'Pullover' vs. 'Coat' remain problematic.</a:t>
            </a:r>
            <a:endParaRPr lang="en-US" sz="17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1378148"/>
            <a:ext cx="6249233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dirty="0">
                <a:solidFill>
                  <a:srgbClr val="161613"/>
                </a:solidFill>
                <a:latin typeface="DM Sans Medium" pitchFamily="34" charset="0"/>
                <a:ea typeface="DM Sans Medium" pitchFamily="34" charset="-122"/>
                <a:cs typeface="DM Sans Medium" pitchFamily="34" charset="-120"/>
              </a:rPr>
              <a:t>Conclusion &amp; Summary</a:t>
            </a:r>
            <a:endParaRPr lang="en-US" sz="4450" dirty="0"/>
          </a:p>
        </p:txBody>
      </p:sp>
      <p:sp>
        <p:nvSpPr>
          <p:cNvPr id="3" name="Text 1"/>
          <p:cNvSpPr/>
          <p:nvPr/>
        </p:nvSpPr>
        <p:spPr>
          <a:xfrm>
            <a:off x="1133951" y="2795707"/>
            <a:ext cx="12702659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b="1" dirty="0">
                <a:solidFill>
                  <a:srgbClr val="16161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The Improved CNN achieved 93.62% accuracy, confirming that convolutional architectures combined with data augmentation and batch normalization are optimal for Fashion-MNIST classification.</a:t>
            </a:r>
            <a:endParaRPr lang="en-US" sz="1750" dirty="0"/>
          </a:p>
        </p:txBody>
      </p:sp>
      <p:sp>
        <p:nvSpPr>
          <p:cNvPr id="4" name="Shape 2"/>
          <p:cNvSpPr/>
          <p:nvPr/>
        </p:nvSpPr>
        <p:spPr>
          <a:xfrm>
            <a:off x="793790" y="2540556"/>
            <a:ext cx="30480" cy="1236107"/>
          </a:xfrm>
          <a:prstGeom prst="rect">
            <a:avLst/>
          </a:prstGeom>
          <a:solidFill>
            <a:srgbClr val="28282F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5" name="Shape 3"/>
          <p:cNvSpPr/>
          <p:nvPr/>
        </p:nvSpPr>
        <p:spPr>
          <a:xfrm>
            <a:off x="793790" y="4031813"/>
            <a:ext cx="4196358" cy="2819519"/>
          </a:xfrm>
          <a:prstGeom prst="roundRect">
            <a:avLst>
              <a:gd name="adj" fmla="val 1207"/>
            </a:avLst>
          </a:prstGeom>
          <a:solidFill>
            <a:srgbClr val="F9F8F5"/>
          </a:solidFill>
          <a:ln w="30480">
            <a:solidFill>
              <a:srgbClr val="D3D1C9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6" name="Text 4"/>
          <p:cNvSpPr/>
          <p:nvPr/>
        </p:nvSpPr>
        <p:spPr>
          <a:xfrm>
            <a:off x="1051084" y="4289108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161613"/>
                </a:solidFill>
                <a:latin typeface="DM Sans Medium" pitchFamily="34" charset="0"/>
                <a:ea typeface="DM Sans Medium" pitchFamily="34" charset="-122"/>
                <a:cs typeface="DM Sans Medium" pitchFamily="34" charset="-120"/>
              </a:rPr>
              <a:t>Key Achievement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1051084" y="4779526"/>
            <a:ext cx="3681770" cy="18145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16161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Successfully identified CNN with regularization as superior architecture, achieving highest classification accuracy across all models tested.</a:t>
            </a:r>
            <a:endParaRPr lang="en-US" sz="1750" dirty="0"/>
          </a:p>
        </p:txBody>
      </p:sp>
      <p:sp>
        <p:nvSpPr>
          <p:cNvPr id="8" name="Shape 6"/>
          <p:cNvSpPr/>
          <p:nvPr/>
        </p:nvSpPr>
        <p:spPr>
          <a:xfrm>
            <a:off x="5216962" y="4031813"/>
            <a:ext cx="4196358" cy="2819519"/>
          </a:xfrm>
          <a:prstGeom prst="roundRect">
            <a:avLst>
              <a:gd name="adj" fmla="val 1207"/>
            </a:avLst>
          </a:prstGeom>
          <a:solidFill>
            <a:srgbClr val="F9F8F5"/>
          </a:solidFill>
          <a:ln w="30480">
            <a:solidFill>
              <a:srgbClr val="D3D1C9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9" name="Text 7"/>
          <p:cNvSpPr/>
          <p:nvPr/>
        </p:nvSpPr>
        <p:spPr>
          <a:xfrm>
            <a:off x="5474256" y="4289108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161613"/>
                </a:solidFill>
                <a:latin typeface="DM Sans Medium" pitchFamily="34" charset="0"/>
                <a:ea typeface="DM Sans Medium" pitchFamily="34" charset="-122"/>
                <a:cs typeface="DM Sans Medium" pitchFamily="34" charset="-120"/>
              </a:rPr>
              <a:t>Critical Learning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5474256" y="4779526"/>
            <a:ext cx="3681770" cy="18145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16161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Spatial feature extraction through convolutional layers is essential for image classification tasks, far outweighing benefits of deeper fully connected networks.</a:t>
            </a:r>
            <a:endParaRPr lang="en-US" sz="1750" dirty="0"/>
          </a:p>
        </p:txBody>
      </p:sp>
      <p:sp>
        <p:nvSpPr>
          <p:cNvPr id="11" name="Shape 9"/>
          <p:cNvSpPr/>
          <p:nvPr/>
        </p:nvSpPr>
        <p:spPr>
          <a:xfrm>
            <a:off x="9640133" y="4031813"/>
            <a:ext cx="4196358" cy="2819519"/>
          </a:xfrm>
          <a:prstGeom prst="roundRect">
            <a:avLst>
              <a:gd name="adj" fmla="val 1207"/>
            </a:avLst>
          </a:prstGeom>
          <a:solidFill>
            <a:srgbClr val="F9F8F5"/>
          </a:solidFill>
          <a:ln w="30480">
            <a:solidFill>
              <a:srgbClr val="D3D1C9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2" name="Text 10"/>
          <p:cNvSpPr/>
          <p:nvPr/>
        </p:nvSpPr>
        <p:spPr>
          <a:xfrm>
            <a:off x="9897427" y="4289108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161613"/>
                </a:solidFill>
                <a:latin typeface="DM Sans Medium" pitchFamily="34" charset="0"/>
                <a:ea typeface="DM Sans Medium" pitchFamily="34" charset="-122"/>
                <a:cs typeface="DM Sans Medium" pitchFamily="34" charset="-120"/>
              </a:rPr>
              <a:t>Practical Impact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9897427" y="4779526"/>
            <a:ext cx="3681770" cy="18145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16161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Results provide clear guidance for fashion industry applications requiring automated clothing classification and visual recognition systems.</a:t>
            </a:r>
            <a:endParaRPr lang="en-US" sz="17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1794867"/>
            <a:ext cx="10271998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dirty="0">
                <a:solidFill>
                  <a:srgbClr val="161613"/>
                </a:solidFill>
                <a:latin typeface="DM Sans Medium" pitchFamily="34" charset="0"/>
                <a:ea typeface="DM Sans Medium" pitchFamily="34" charset="-122"/>
                <a:cs typeface="DM Sans Medium" pitchFamily="34" charset="-120"/>
              </a:rPr>
              <a:t>Future Directions &amp; Acknowledgments</a:t>
            </a:r>
            <a:endParaRPr lang="en-US" sz="4450" dirty="0"/>
          </a:p>
        </p:txBody>
      </p:sp>
      <p:sp>
        <p:nvSpPr>
          <p:cNvPr id="3" name="Text 1"/>
          <p:cNvSpPr/>
          <p:nvPr/>
        </p:nvSpPr>
        <p:spPr>
          <a:xfrm>
            <a:off x="793790" y="2594372"/>
            <a:ext cx="4273510" cy="4252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300"/>
              </a:lnSpc>
              <a:buNone/>
            </a:pPr>
            <a:r>
              <a:rPr lang="en-US" sz="2650" dirty="0">
                <a:solidFill>
                  <a:srgbClr val="161613"/>
                </a:solidFill>
                <a:latin typeface="DM Sans Medium" pitchFamily="34" charset="0"/>
                <a:ea typeface="DM Sans Medium" pitchFamily="34" charset="-122"/>
                <a:cs typeface="DM Sans Medium" pitchFamily="34" charset="-120"/>
              </a:rPr>
              <a:t>Recommended Next Steps</a:t>
            </a:r>
            <a:endParaRPr lang="en-US" sz="2650" dirty="0"/>
          </a:p>
        </p:txBody>
      </p:sp>
      <p:sp>
        <p:nvSpPr>
          <p:cNvPr id="4" name="Text 2"/>
          <p:cNvSpPr/>
          <p:nvPr/>
        </p:nvSpPr>
        <p:spPr>
          <a:xfrm>
            <a:off x="793790" y="3359825"/>
            <a:ext cx="13042821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16161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Explore deeper state-of-the-art CNN architectures (ResNet, EfficientNet) to push beyond 94% accuracy</a:t>
            </a:r>
            <a:endParaRPr lang="en-US" sz="1750" dirty="0"/>
          </a:p>
        </p:txBody>
      </p:sp>
      <p:sp>
        <p:nvSpPr>
          <p:cNvPr id="5" name="Text 3"/>
          <p:cNvSpPr/>
          <p:nvPr/>
        </p:nvSpPr>
        <p:spPr>
          <a:xfrm>
            <a:off x="793790" y="3802023"/>
            <a:ext cx="13042821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16161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Implement transfer learning from pre-trained models to leverage broader visual knowledge</a:t>
            </a:r>
            <a:endParaRPr lang="en-US" sz="1750" dirty="0"/>
          </a:p>
        </p:txBody>
      </p:sp>
      <p:sp>
        <p:nvSpPr>
          <p:cNvPr id="6" name="Text 4"/>
          <p:cNvSpPr/>
          <p:nvPr/>
        </p:nvSpPr>
        <p:spPr>
          <a:xfrm>
            <a:off x="793790" y="4244221"/>
            <a:ext cx="13042821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16161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Focus on reducing confusion between similar clothing categories through specialized training techniques</a:t>
            </a:r>
            <a:endParaRPr lang="en-US" sz="1750" dirty="0"/>
          </a:p>
        </p:txBody>
      </p:sp>
      <p:sp>
        <p:nvSpPr>
          <p:cNvPr id="7" name="Text 5"/>
          <p:cNvSpPr/>
          <p:nvPr/>
        </p:nvSpPr>
        <p:spPr>
          <a:xfrm>
            <a:off x="793790" y="4686419"/>
            <a:ext cx="13042821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16161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Investigate ensemble methods combining multiple CNN variants for improved robustness</a:t>
            </a:r>
            <a:endParaRPr lang="en-US" sz="1750" dirty="0"/>
          </a:p>
        </p:txBody>
      </p:sp>
      <p:sp>
        <p:nvSpPr>
          <p:cNvPr id="8" name="Shape 6"/>
          <p:cNvSpPr/>
          <p:nvPr/>
        </p:nvSpPr>
        <p:spPr>
          <a:xfrm>
            <a:off x="793790" y="5417853"/>
            <a:ext cx="13042821" cy="35957"/>
          </a:xfrm>
          <a:prstGeom prst="rect">
            <a:avLst/>
          </a:prstGeom>
          <a:solidFill>
            <a:srgbClr val="161613">
              <a:alpha val="50000"/>
            </a:srgbClr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9" name="Text 7"/>
          <p:cNvSpPr/>
          <p:nvPr/>
        </p:nvSpPr>
        <p:spPr>
          <a:xfrm>
            <a:off x="793790" y="5708928"/>
            <a:ext cx="13042821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16161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Special thanks to the Fashion-MNIST dataset creators and the deep learning community for providing tools and frameworks that made this analysis possible.</a:t>
            </a:r>
            <a:endParaRPr lang="en-US" sz="17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2997637"/>
            <a:ext cx="11341298" cy="141767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1150"/>
              </a:lnSpc>
              <a:buNone/>
            </a:pPr>
            <a:r>
              <a:rPr lang="en-US" sz="8900" dirty="0">
                <a:solidFill>
                  <a:srgbClr val="161613"/>
                </a:solidFill>
                <a:latin typeface="DM Sans Medium" pitchFamily="34" charset="0"/>
                <a:ea typeface="DM Sans Medium" pitchFamily="34" charset="-122"/>
                <a:cs typeface="DM Sans Medium" pitchFamily="34" charset="-120"/>
              </a:rPr>
              <a:t>Thank You!</a:t>
            </a:r>
            <a:endParaRPr lang="en-US" sz="8900" dirty="0"/>
          </a:p>
        </p:txBody>
      </p:sp>
      <p:sp>
        <p:nvSpPr>
          <p:cNvPr id="3" name="Text 1"/>
          <p:cNvSpPr/>
          <p:nvPr/>
        </p:nvSpPr>
        <p:spPr>
          <a:xfrm>
            <a:off x="793790" y="4868942"/>
            <a:ext cx="13042821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endParaRPr lang="en-US" sz="17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644</Words>
  <Application>Microsoft Office PowerPoint</Application>
  <PresentationFormat>Custom</PresentationFormat>
  <Paragraphs>92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6" baseType="lpstr">
      <vt:lpstr>Inter</vt:lpstr>
      <vt:lpstr>DM Sans Light</vt:lpstr>
      <vt:lpstr>DM Sans Medium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HP</dc:creator>
  <cp:lastModifiedBy>Jahnavi Kodi</cp:lastModifiedBy>
  <cp:revision>1</cp:revision>
  <dcterms:created xsi:type="dcterms:W3CDTF">2025-11-02T16:21:56Z</dcterms:created>
  <dcterms:modified xsi:type="dcterms:W3CDTF">2025-11-02T16:49:32Z</dcterms:modified>
</cp:coreProperties>
</file>